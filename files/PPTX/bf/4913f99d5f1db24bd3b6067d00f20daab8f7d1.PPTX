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66" r:id="rId3"/>
    <p:sldId id="267" r:id="rId4"/>
    <p:sldId id="268" r:id="rId5"/>
    <p:sldId id="269" r:id="rId6"/>
    <p:sldId id="270" r:id="rId7"/>
    <p:sldId id="275" r:id="rId8"/>
    <p:sldId id="273" r:id="rId9"/>
    <p:sldId id="272" r:id="rId10"/>
    <p:sldId id="274" r:id="rId11"/>
  </p:sldIdLst>
  <p:sldSz cx="9144000" cy="5143500" type="screen16x9"/>
  <p:notesSz cx="6858000" cy="9144000"/>
  <p:defaultTextStyle>
    <a:defPPr>
      <a:defRPr lang="es-MX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C45"/>
    <a:srgbClr val="365E50"/>
    <a:srgbClr val="D8C49F"/>
    <a:srgbClr val="464643"/>
    <a:srgbClr val="0C3125"/>
    <a:srgbClr val="EBD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4611"/>
  </p:normalViewPr>
  <p:slideViewPr>
    <p:cSldViewPr snapToGrid="0" snapToObjects="1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2E10C-293D-488A-A74C-32AA93E0DD46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F3A84E-A198-4AF3-B97C-08B9B59E98B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3229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3A84E-A198-4AF3-B97C-08B9B59E98B4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1897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458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656" y="30777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759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032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09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8588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2730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794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081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828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531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915547A-D712-A34A-9808-2578513E8D33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5769B-569F-AB4F-9EA0-B189E3181C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974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FF101DA-077F-454F-9009-C19B4196A20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7475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464643"/>
                </a:solidFill>
                <a:latin typeface="Montserrat" pitchFamily="2" charset="77"/>
              </a:defRPr>
            </a:lvl1pPr>
          </a:lstStyle>
          <a:p>
            <a:fld id="{4825769B-569F-AB4F-9EA0-B189E3181C42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2220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F68B928-28A3-5C40-8A10-E4BB61264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25717"/>
            <a:ext cx="9235440" cy="519493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0236FDF-B661-3849-9F1D-5FD8DD079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5250" y="894231"/>
            <a:ext cx="6858000" cy="1948114"/>
          </a:xfrm>
        </p:spPr>
        <p:txBody>
          <a:bodyPr/>
          <a:lstStyle/>
          <a:p>
            <a:r>
              <a:rPr lang="es-MX" sz="3200" b="1" dirty="0" smtClean="0">
                <a:solidFill>
                  <a:schemeClr val="bg1"/>
                </a:solidFill>
                <a:latin typeface="Montserrat ExtraBold" pitchFamily="2" charset="77"/>
              </a:rPr>
              <a:t>Match Servicios de Vinculación Laboral</a:t>
            </a:r>
            <a:br>
              <a:rPr lang="es-MX" sz="3200" b="1" dirty="0" smtClean="0">
                <a:solidFill>
                  <a:schemeClr val="bg1"/>
                </a:solidFill>
                <a:latin typeface="Montserrat ExtraBold" pitchFamily="2" charset="77"/>
              </a:rPr>
            </a:br>
            <a:endParaRPr lang="es-MX" sz="3200" b="1" dirty="0">
              <a:solidFill>
                <a:schemeClr val="bg1"/>
              </a:solidFill>
              <a:latin typeface="Montserrat ExtraBold" pitchFamily="2" charset="77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C788564-9A49-574E-AD62-6CC6AD6E3B9E}"/>
              </a:ext>
            </a:extLst>
          </p:cNvPr>
          <p:cNvCxnSpPr/>
          <p:nvPr/>
        </p:nvCxnSpPr>
        <p:spPr>
          <a:xfrm>
            <a:off x="2820692" y="2518475"/>
            <a:ext cx="3487118" cy="0"/>
          </a:xfrm>
          <a:prstGeom prst="line">
            <a:avLst/>
          </a:prstGeom>
          <a:ln>
            <a:solidFill>
              <a:srgbClr val="D8C4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A92373FB-3373-2D42-94C6-6016FC9D9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553" y="4084825"/>
            <a:ext cx="4481395" cy="62230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876048" y="4707125"/>
            <a:ext cx="2045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 smtClean="0">
                <a:solidFill>
                  <a:schemeClr val="bg1"/>
                </a:solidFill>
                <a:latin typeface="Montserrat" panose="00000500000000000000" pitchFamily="2" charset="0"/>
              </a:rPr>
              <a:t>Diciembre de 2019</a:t>
            </a:r>
            <a:endParaRPr lang="es-MX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26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337462" y="904987"/>
            <a:ext cx="14462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¿Qué hace?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331892" y="1443430"/>
            <a:ext cx="8348595" cy="1770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 smtClean="0">
                <a:latin typeface="Montserrat" panose="00000500000000000000" pitchFamily="2" charset="0"/>
              </a:rPr>
              <a:t>Compara variables seleccionadas </a:t>
            </a:r>
            <a:r>
              <a:rPr lang="es-MX" dirty="0">
                <a:latin typeface="Montserrat" panose="00000500000000000000" pitchFamily="2" charset="0"/>
              </a:rPr>
              <a:t>d</a:t>
            </a:r>
            <a:r>
              <a:rPr lang="es-MX" dirty="0" smtClean="0">
                <a:latin typeface="Montserrat" panose="00000500000000000000" pitchFamily="2" charset="0"/>
              </a:rPr>
              <a:t>el perfil del candidato vs una oferta de empleo y viceversa. </a:t>
            </a:r>
          </a:p>
          <a:p>
            <a:pPr marL="285750" indent="-285750"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 smtClean="0">
                <a:latin typeface="Montserrat" panose="00000500000000000000" pitchFamily="2" charset="0"/>
              </a:rPr>
              <a:t>Muestra de forma básica el grado de emparejamiento (candidato- oferta de empleo) para fines de envío o postulación, el cual es expresado en forma de porcentaje. </a:t>
            </a:r>
          </a:p>
          <a:p>
            <a:pPr marL="285750" indent="-285750" algn="jus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 smtClean="0">
                <a:latin typeface="Montserrat" panose="00000500000000000000" pitchFamily="2" charset="0"/>
              </a:rPr>
              <a:t>El procedimiento funciona en el Portal del Empleo, en Bolsa de Trabajo (SIISNE), Ferias de Empleo y Abriendo Espacios.</a:t>
            </a:r>
            <a:endParaRPr lang="es-MX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03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82098" y="822045"/>
            <a:ext cx="29787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Qué factores considera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 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278790"/>
              </p:ext>
            </p:extLst>
          </p:nvPr>
        </p:nvGraphicFramePr>
        <p:xfrm>
          <a:off x="1022350" y="1419225"/>
          <a:ext cx="6896100" cy="283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Hoja de cálculo" r:id="rId4" imgW="6896285" imgH="2838551" progId="Excel.Sheet.12">
                  <p:embed/>
                </p:oleObj>
              </mc:Choice>
              <mc:Fallback>
                <p:oleObj name="Hoja de cálculo" r:id="rId4" imgW="6896285" imgH="283855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2350" y="1419225"/>
                        <a:ext cx="6896100" cy="2838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</p:spTree>
    <p:extLst>
      <p:ext uri="{BB962C8B-B14F-4D97-AF65-F5344CB8AC3E}">
        <p14:creationId xmlns:p14="http://schemas.microsoft.com/office/powerpoint/2010/main" val="315914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48479" y="1095881"/>
            <a:ext cx="15661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Cómo Funciona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670758"/>
              </p:ext>
            </p:extLst>
          </p:nvPr>
        </p:nvGraphicFramePr>
        <p:xfrm>
          <a:off x="1814627" y="607672"/>
          <a:ext cx="6233438" cy="4326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Hoja de cálculo" r:id="rId4" imgW="8902749" imgH="6972300" progId="Excel.Sheet.12">
                  <p:embed/>
                </p:oleObj>
              </mc:Choice>
              <mc:Fallback>
                <p:oleObj name="Hoja de cálculo" r:id="rId4" imgW="8902749" imgH="6972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4627" y="607672"/>
                        <a:ext cx="6233438" cy="4326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</p:spTree>
    <p:extLst>
      <p:ext uri="{BB962C8B-B14F-4D97-AF65-F5344CB8AC3E}">
        <p14:creationId xmlns:p14="http://schemas.microsoft.com/office/powerpoint/2010/main" val="401774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209582"/>
              </p:ext>
            </p:extLst>
          </p:nvPr>
        </p:nvGraphicFramePr>
        <p:xfrm>
          <a:off x="2019300" y="879434"/>
          <a:ext cx="5103813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Hoja de cálculo" r:id="rId4" imgW="9534474" imgH="7591425" progId="Excel.Sheet.12">
                  <p:embed/>
                </p:oleObj>
              </mc:Choice>
              <mc:Fallback>
                <p:oleObj name="Hoja de cálculo" r:id="rId4" imgW="9534474" imgH="75914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9300" y="879434"/>
                        <a:ext cx="5103813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48479" y="1095881"/>
            <a:ext cx="15661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Cómo Funciona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43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48479" y="719364"/>
            <a:ext cx="21178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Cómo Funciona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248479" y="1330553"/>
            <a:ext cx="21830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365E50"/>
                </a:solidFill>
                <a:latin typeface="Montserrat" panose="00000500000000000000" pitchFamily="2" charset="0"/>
                <a:cs typeface="Soberana Titular"/>
              </a:rPr>
              <a:t>Bolsa de Trabajo </a:t>
            </a:r>
            <a:endParaRPr lang="es-ES" b="1" dirty="0">
              <a:solidFill>
                <a:srgbClr val="365E50"/>
              </a:solidFill>
              <a:latin typeface="Montserrat" panose="00000500000000000000" pitchFamily="2" charset="0"/>
              <a:cs typeface="Soberana Titular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839" y="1726798"/>
            <a:ext cx="3316585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357750" indent="-285750" algn="just" defTabSz="914400">
              <a:spcAft>
                <a:spcPts val="600"/>
              </a:spcAft>
              <a:buClr>
                <a:srgbClr val="D70202"/>
              </a:buClr>
              <a:buSzPct val="110000"/>
              <a:buFont typeface="Arial" panose="020B0604020202020204" pitchFamily="34" charset="0"/>
              <a:buChar char="•"/>
              <a:defRPr sz="1400">
                <a:latin typeface="Soberana Sans" panose="02000000000000000000" pitchFamily="50" charset="0"/>
                <a:cs typeface="Calibri"/>
              </a:defRPr>
            </a:lvl1pPr>
          </a:lstStyle>
          <a:p>
            <a:pPr>
              <a:lnSpc>
                <a:spcPts val="21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s-ES" sz="1200" dirty="0" smtClean="0">
                <a:latin typeface="Montserrat" panose="00000500000000000000" pitchFamily="2" charset="0"/>
                <a:cs typeface="Arial" panose="020B0604020202020204" pitchFamily="34" charset="0"/>
              </a:rPr>
              <a:t>Durante el proceso de entrevista, los consejeros de empleo, identifican el nivel de afinidad (match) de los buscadores de empleo con las vacantes y a partir de ello, determinan enviar o no a un candidato a la empresa ofertante. Para que una oferta de empleo se muestre debe de cumplir con un porcentaje de compatibilidad mayor o igual al 65%</a:t>
            </a:r>
            <a:endParaRPr lang="es-ES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280" y="793224"/>
            <a:ext cx="4963645" cy="1630619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5368414" y="2344476"/>
            <a:ext cx="30489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…</a:t>
            </a:r>
          </a:p>
          <a:p>
            <a:r>
              <a:rPr lang="es-MX" dirty="0" smtClean="0"/>
              <a:t>…</a:t>
            </a:r>
          </a:p>
          <a:p>
            <a:r>
              <a:rPr lang="es-MX" dirty="0" smtClean="0"/>
              <a:t>…</a:t>
            </a:r>
            <a:endParaRPr lang="es-MX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767" y="3058086"/>
            <a:ext cx="4897370" cy="1536153"/>
          </a:xfrm>
          <a:prstGeom prst="rect">
            <a:avLst/>
          </a:prstGeom>
        </p:spPr>
      </p:pic>
      <p:sp>
        <p:nvSpPr>
          <p:cNvPr id="14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</p:spTree>
    <p:extLst>
      <p:ext uri="{BB962C8B-B14F-4D97-AF65-F5344CB8AC3E}">
        <p14:creationId xmlns:p14="http://schemas.microsoft.com/office/powerpoint/2010/main" val="143580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48479" y="704974"/>
            <a:ext cx="21178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Cómo Funciona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61" y="1374159"/>
            <a:ext cx="4090434" cy="211211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051" y="1374159"/>
            <a:ext cx="4579492" cy="3487693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549732" y="967157"/>
            <a:ext cx="21830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365E50"/>
                </a:solidFill>
                <a:latin typeface="Montserrat" panose="00000500000000000000" pitchFamily="2" charset="0"/>
                <a:cs typeface="Soberana Titular"/>
              </a:rPr>
              <a:t>Bolsa de Trabajo </a:t>
            </a:r>
            <a:endParaRPr lang="es-ES" b="1" dirty="0">
              <a:solidFill>
                <a:srgbClr val="365E50"/>
              </a:solidFill>
              <a:latin typeface="Montserrat" panose="00000500000000000000" pitchFamily="2" charset="0"/>
              <a:cs typeface="Soberana Titular"/>
            </a:endParaRPr>
          </a:p>
        </p:txBody>
      </p:sp>
    </p:spTree>
    <p:extLst>
      <p:ext uri="{BB962C8B-B14F-4D97-AF65-F5344CB8AC3E}">
        <p14:creationId xmlns:p14="http://schemas.microsoft.com/office/powerpoint/2010/main" val="175071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48479" y="1171159"/>
            <a:ext cx="21178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Cómo Funciona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563" y="1345842"/>
            <a:ext cx="6013348" cy="3547721"/>
          </a:xfrm>
          <a:prstGeom prst="rect">
            <a:avLst/>
          </a:prstGeom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4020379" y="871077"/>
            <a:ext cx="21830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365E50"/>
                </a:solidFill>
                <a:latin typeface="Montserrat" panose="00000500000000000000" pitchFamily="2" charset="0"/>
                <a:cs typeface="Soberana Titular"/>
              </a:rPr>
              <a:t>Bolsa de Trabajo </a:t>
            </a:r>
            <a:endParaRPr lang="es-ES" b="1" dirty="0">
              <a:solidFill>
                <a:srgbClr val="365E50"/>
              </a:solidFill>
              <a:latin typeface="Montserrat" panose="00000500000000000000" pitchFamily="2" charset="0"/>
              <a:cs typeface="Soberana Titular"/>
            </a:endParaRPr>
          </a:p>
        </p:txBody>
      </p:sp>
    </p:spTree>
    <p:extLst>
      <p:ext uri="{BB962C8B-B14F-4D97-AF65-F5344CB8AC3E}">
        <p14:creationId xmlns:p14="http://schemas.microsoft.com/office/powerpoint/2010/main" val="54683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123" y="1235854"/>
            <a:ext cx="4061492" cy="372784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 txBox="1">
            <a:spLocks/>
          </p:cNvSpPr>
          <p:nvPr/>
        </p:nvSpPr>
        <p:spPr>
          <a:xfrm>
            <a:off x="248479" y="247774"/>
            <a:ext cx="4037116" cy="418852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s-MX" b="1" smtClean="0">
                <a:solidFill>
                  <a:srgbClr val="365E50"/>
                </a:solidFill>
              </a:rPr>
              <a:t>Match Servicios de Vinculación</a:t>
            </a:r>
            <a:endParaRPr lang="es-MX" b="1" dirty="0" smtClean="0">
              <a:solidFill>
                <a:srgbClr val="365E50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4020379" y="871077"/>
            <a:ext cx="21830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365E50"/>
                </a:solidFill>
                <a:latin typeface="Montserrat" panose="00000500000000000000" pitchFamily="2" charset="0"/>
                <a:cs typeface="Soberana Titular"/>
              </a:rPr>
              <a:t>Portal del Empleo </a:t>
            </a:r>
            <a:endParaRPr lang="es-ES" b="1" dirty="0">
              <a:solidFill>
                <a:srgbClr val="365E50"/>
              </a:solidFill>
              <a:latin typeface="Montserrat" panose="00000500000000000000" pitchFamily="2" charset="0"/>
              <a:cs typeface="Soberana Titular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248479" y="1171159"/>
            <a:ext cx="21178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Cómo Funciona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63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_tradnl" altLang="es-MX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5A325C-DF0F-EE4D-8BF1-E8E98866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108" y="150472"/>
            <a:ext cx="3931379" cy="54592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353" y="1058469"/>
            <a:ext cx="4247509" cy="3789196"/>
          </a:xfrm>
          <a:prstGeom prst="rect">
            <a:avLst/>
          </a:prstGeom>
        </p:spPr>
      </p:pic>
      <p:sp>
        <p:nvSpPr>
          <p:cNvPr id="9" name="Subtítulo 2">
            <a:extLst>
              <a:ext uri="{FF2B5EF4-FFF2-40B4-BE49-F238E27FC236}">
                <a16:creationId xmlns:a16="http://schemas.microsoft.com/office/drawing/2014/main" id="{A964D868-A247-5342-B6AC-88CFE0F6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9" y="247774"/>
            <a:ext cx="4037116" cy="4188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MX" b="1" dirty="0" smtClean="0">
                <a:solidFill>
                  <a:srgbClr val="365E50"/>
                </a:solidFill>
              </a:rPr>
              <a:t>Match Servicios de Vinculación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248479" y="1171159"/>
            <a:ext cx="21178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¿</a:t>
            </a:r>
            <a:r>
              <a:rPr lang="es-MX" sz="1600" b="1" dirty="0">
                <a:solidFill>
                  <a:srgbClr val="A31C45"/>
                </a:solidFill>
                <a:latin typeface="Montserrat" panose="00000500000000000000" pitchFamily="2" charset="0"/>
              </a:rPr>
              <a:t>Cómo Funciona</a:t>
            </a:r>
            <a:r>
              <a:rPr lang="es-MX" sz="1600" b="1" dirty="0" smtClean="0">
                <a:solidFill>
                  <a:srgbClr val="A31C45"/>
                </a:solidFill>
                <a:latin typeface="Montserrat" panose="00000500000000000000" pitchFamily="2" charset="0"/>
              </a:rPr>
              <a:t>?</a:t>
            </a:r>
            <a:endParaRPr lang="es-MX" sz="1600" b="1" dirty="0">
              <a:solidFill>
                <a:srgbClr val="A31C45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832121" y="712506"/>
            <a:ext cx="218306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rgbClr val="365E50"/>
                </a:solidFill>
                <a:latin typeface="Montserrat" panose="00000500000000000000" pitchFamily="2" charset="0"/>
                <a:cs typeface="Soberana Titular"/>
              </a:rPr>
              <a:t>Portal del Empleo </a:t>
            </a:r>
            <a:endParaRPr lang="es-ES" b="1" dirty="0">
              <a:solidFill>
                <a:srgbClr val="365E50"/>
              </a:solidFill>
              <a:latin typeface="Montserrat" panose="00000500000000000000" pitchFamily="2" charset="0"/>
              <a:cs typeface="Soberana Titular"/>
            </a:endParaRPr>
          </a:p>
        </p:txBody>
      </p:sp>
    </p:spTree>
    <p:extLst>
      <p:ext uri="{BB962C8B-B14F-4D97-AF65-F5344CB8AC3E}">
        <p14:creationId xmlns:p14="http://schemas.microsoft.com/office/powerpoint/2010/main" val="287723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1322</TotalTime>
  <Words>236</Words>
  <Application>Microsoft Office PowerPoint</Application>
  <PresentationFormat>Presentación en pantalla (16:9)</PresentationFormat>
  <Paragraphs>33</Paragraphs>
  <Slides>10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Arial</vt:lpstr>
      <vt:lpstr>Calibri</vt:lpstr>
      <vt:lpstr>Montserrat</vt:lpstr>
      <vt:lpstr>Montserrat ExtraBold</vt:lpstr>
      <vt:lpstr>Soberana Titular</vt:lpstr>
      <vt:lpstr>Wingdings</vt:lpstr>
      <vt:lpstr>Tema de Office</vt:lpstr>
      <vt:lpstr>Hoja de cálculo de Microsoft Excel</vt:lpstr>
      <vt:lpstr>Hoja de cálculo</vt:lpstr>
      <vt:lpstr>Match Servicios de Vinculación Laboral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1RA LÍNEA TÍTULO 2DA LÍNEA TÍTULO</dc:title>
  <dc:creator>Microsoft Office User</dc:creator>
  <cp:lastModifiedBy>Jaime Rodriguez Colon</cp:lastModifiedBy>
  <cp:revision>88</cp:revision>
  <dcterms:created xsi:type="dcterms:W3CDTF">2019-06-25T17:08:59Z</dcterms:created>
  <dcterms:modified xsi:type="dcterms:W3CDTF">2020-02-24T20:08:13Z</dcterms:modified>
</cp:coreProperties>
</file>